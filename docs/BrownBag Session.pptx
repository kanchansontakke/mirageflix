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4" r:id="rId11"/>
    <p:sldId id="275" r:id="rId12"/>
    <p:sldId id="267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>
        <p:scale>
          <a:sx n="70" d="100"/>
          <a:sy n="70" d="100"/>
        </p:scale>
        <p:origin x="112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311392-B9EF-458E-A793-C8608724A1D3}" type="doc">
      <dgm:prSet loTypeId="urn:microsoft.com/office/officeart/2018/2/layout/IconLabelList" loCatId="icon" qsTypeId="urn:microsoft.com/office/officeart/2005/8/quickstyle/simple1" qsCatId="simple" csTypeId="urn:microsoft.com/office/officeart/2005/8/colors/accent5_4" csCatId="accent5" phldr="1"/>
      <dgm:spPr/>
      <dgm:t>
        <a:bodyPr/>
        <a:lstStyle/>
        <a:p>
          <a:endParaRPr lang="en-US"/>
        </a:p>
      </dgm:t>
    </dgm:pt>
    <dgm:pt modelId="{43975160-1A44-441D-9874-75C980552E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Feature-based folder structure</a:t>
          </a:r>
        </a:p>
      </dgm:t>
    </dgm:pt>
    <dgm:pt modelId="{3ABD0AA5-4BAF-46B4-AC24-50698B803879}" type="parTrans" cxnId="{0D3B6D1B-2985-4741-9742-9E36F2CFFCF9}">
      <dgm:prSet/>
      <dgm:spPr/>
      <dgm:t>
        <a:bodyPr/>
        <a:lstStyle/>
        <a:p>
          <a:endParaRPr lang="en-US"/>
        </a:p>
      </dgm:t>
    </dgm:pt>
    <dgm:pt modelId="{21FAF855-B6BE-4839-BBFD-1F8D3F069BEB}" type="sibTrans" cxnId="{0D3B6D1B-2985-4741-9742-9E36F2CFFCF9}">
      <dgm:prSet/>
      <dgm:spPr/>
      <dgm:t>
        <a:bodyPr/>
        <a:lstStyle/>
        <a:p>
          <a:endParaRPr lang="en-US"/>
        </a:p>
      </dgm:t>
    </dgm:pt>
    <dgm:pt modelId="{93077D96-8D0F-4B15-B842-5D87B242DF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Separation of UI, logic, and data</a:t>
          </a:r>
        </a:p>
      </dgm:t>
    </dgm:pt>
    <dgm:pt modelId="{8AAC5037-B957-41D1-9F29-96D40763FA11}" type="parTrans" cxnId="{4DDDB102-E456-4628-B524-ED2CC884AD60}">
      <dgm:prSet/>
      <dgm:spPr/>
      <dgm:t>
        <a:bodyPr/>
        <a:lstStyle/>
        <a:p>
          <a:endParaRPr lang="en-US"/>
        </a:p>
      </dgm:t>
    </dgm:pt>
    <dgm:pt modelId="{41E91911-682B-49D7-AA37-20DC37F100B0}" type="sibTrans" cxnId="{4DDDB102-E456-4628-B524-ED2CC884AD60}">
      <dgm:prSet/>
      <dgm:spPr/>
      <dgm:t>
        <a:bodyPr/>
        <a:lstStyle/>
        <a:p>
          <a:endParaRPr lang="en-US"/>
        </a:p>
      </dgm:t>
    </dgm:pt>
    <dgm:pt modelId="{33F65003-367F-4336-9E68-01AAE52BB1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Avoid large multi-responsibility components</a:t>
          </a:r>
        </a:p>
      </dgm:t>
    </dgm:pt>
    <dgm:pt modelId="{EBFAB0E2-B70A-497A-8015-48EB6A1ED218}" type="parTrans" cxnId="{E5D21309-A756-44B8-8A44-23EA9BEFBE75}">
      <dgm:prSet/>
      <dgm:spPr/>
      <dgm:t>
        <a:bodyPr/>
        <a:lstStyle/>
        <a:p>
          <a:endParaRPr lang="en-US"/>
        </a:p>
      </dgm:t>
    </dgm:pt>
    <dgm:pt modelId="{64D45868-2B06-4268-8B55-45F6567FDAF8}" type="sibTrans" cxnId="{E5D21309-A756-44B8-8A44-23EA9BEFBE75}">
      <dgm:prSet/>
      <dgm:spPr/>
      <dgm:t>
        <a:bodyPr/>
        <a:lstStyle/>
        <a:p>
          <a:endParaRPr lang="en-US"/>
        </a:p>
      </dgm:t>
    </dgm:pt>
    <dgm:pt modelId="{782050EC-DEE0-4BE7-9ADB-470B91232B8E}" type="pres">
      <dgm:prSet presAssocID="{07311392-B9EF-458E-A793-C8608724A1D3}" presName="root" presStyleCnt="0">
        <dgm:presLayoutVars>
          <dgm:dir/>
          <dgm:resizeHandles val="exact"/>
        </dgm:presLayoutVars>
      </dgm:prSet>
      <dgm:spPr/>
    </dgm:pt>
    <dgm:pt modelId="{CF3BC672-4BC1-43F3-9106-8B2A481E826D}" type="pres">
      <dgm:prSet presAssocID="{43975160-1A44-441D-9874-75C980552E2E}" presName="compNode" presStyleCnt="0"/>
      <dgm:spPr/>
    </dgm:pt>
    <dgm:pt modelId="{E18D0BBC-2427-4A86-925F-648BB4052BC6}" type="pres">
      <dgm:prSet presAssocID="{43975160-1A44-441D-9874-75C980552E2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BEA50ACF-8C39-4010-ABAA-68F2EC4FCAAB}" type="pres">
      <dgm:prSet presAssocID="{43975160-1A44-441D-9874-75C980552E2E}" presName="spaceRect" presStyleCnt="0"/>
      <dgm:spPr/>
    </dgm:pt>
    <dgm:pt modelId="{6E2F34C2-8B1F-4E21-B33A-DE98D54526C4}" type="pres">
      <dgm:prSet presAssocID="{43975160-1A44-441D-9874-75C980552E2E}" presName="textRect" presStyleLbl="revTx" presStyleIdx="0" presStyleCnt="3">
        <dgm:presLayoutVars>
          <dgm:chMax val="1"/>
          <dgm:chPref val="1"/>
        </dgm:presLayoutVars>
      </dgm:prSet>
      <dgm:spPr/>
    </dgm:pt>
    <dgm:pt modelId="{92BD8B32-746B-45B9-BC35-FE2A16E5D1A1}" type="pres">
      <dgm:prSet presAssocID="{21FAF855-B6BE-4839-BBFD-1F8D3F069BEB}" presName="sibTrans" presStyleCnt="0"/>
      <dgm:spPr/>
    </dgm:pt>
    <dgm:pt modelId="{35AB5163-FB94-4D91-B8C0-FE7BBE974141}" type="pres">
      <dgm:prSet presAssocID="{93077D96-8D0F-4B15-B842-5D87B242DF74}" presName="compNode" presStyleCnt="0"/>
      <dgm:spPr/>
    </dgm:pt>
    <dgm:pt modelId="{3F6A3F38-A528-4C12-80F0-6A74DE347F50}" type="pres">
      <dgm:prSet presAssocID="{93077D96-8D0F-4B15-B842-5D87B242DF7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3CAFE56-A158-45BB-82A2-6CF7D8A78214}" type="pres">
      <dgm:prSet presAssocID="{93077D96-8D0F-4B15-B842-5D87B242DF74}" presName="spaceRect" presStyleCnt="0"/>
      <dgm:spPr/>
    </dgm:pt>
    <dgm:pt modelId="{3DD2C4A1-4325-4C87-AF65-972E70974719}" type="pres">
      <dgm:prSet presAssocID="{93077D96-8D0F-4B15-B842-5D87B242DF74}" presName="textRect" presStyleLbl="revTx" presStyleIdx="1" presStyleCnt="3">
        <dgm:presLayoutVars>
          <dgm:chMax val="1"/>
          <dgm:chPref val="1"/>
        </dgm:presLayoutVars>
      </dgm:prSet>
      <dgm:spPr/>
    </dgm:pt>
    <dgm:pt modelId="{56A23BE9-0E5E-44EE-A7A6-99A0BD34A0B0}" type="pres">
      <dgm:prSet presAssocID="{41E91911-682B-49D7-AA37-20DC37F100B0}" presName="sibTrans" presStyleCnt="0"/>
      <dgm:spPr/>
    </dgm:pt>
    <dgm:pt modelId="{76F5673F-2788-4F7F-B459-9F9CB5E59102}" type="pres">
      <dgm:prSet presAssocID="{33F65003-367F-4336-9E68-01AAE52BB146}" presName="compNode" presStyleCnt="0"/>
      <dgm:spPr/>
    </dgm:pt>
    <dgm:pt modelId="{3216E664-1F64-42F1-8D77-F2AE721AE73A}" type="pres">
      <dgm:prSet presAssocID="{33F65003-367F-4336-9E68-01AAE52BB14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w blade"/>
        </a:ext>
      </dgm:extLst>
    </dgm:pt>
    <dgm:pt modelId="{0C5DE960-7275-4820-9904-D46E17F9E051}" type="pres">
      <dgm:prSet presAssocID="{33F65003-367F-4336-9E68-01AAE52BB146}" presName="spaceRect" presStyleCnt="0"/>
      <dgm:spPr/>
    </dgm:pt>
    <dgm:pt modelId="{2304A49E-C03A-42B9-A925-290992EC6D96}" type="pres">
      <dgm:prSet presAssocID="{33F65003-367F-4336-9E68-01AAE52BB14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DDDB102-E456-4628-B524-ED2CC884AD60}" srcId="{07311392-B9EF-458E-A793-C8608724A1D3}" destId="{93077D96-8D0F-4B15-B842-5D87B242DF74}" srcOrd="1" destOrd="0" parTransId="{8AAC5037-B957-41D1-9F29-96D40763FA11}" sibTransId="{41E91911-682B-49D7-AA37-20DC37F100B0}"/>
    <dgm:cxn modelId="{E5D21309-A756-44B8-8A44-23EA9BEFBE75}" srcId="{07311392-B9EF-458E-A793-C8608724A1D3}" destId="{33F65003-367F-4336-9E68-01AAE52BB146}" srcOrd="2" destOrd="0" parTransId="{EBFAB0E2-B70A-497A-8015-48EB6A1ED218}" sibTransId="{64D45868-2B06-4268-8B55-45F6567FDAF8}"/>
    <dgm:cxn modelId="{0D3B6D1B-2985-4741-9742-9E36F2CFFCF9}" srcId="{07311392-B9EF-458E-A793-C8608724A1D3}" destId="{43975160-1A44-441D-9874-75C980552E2E}" srcOrd="0" destOrd="0" parTransId="{3ABD0AA5-4BAF-46B4-AC24-50698B803879}" sibTransId="{21FAF855-B6BE-4839-BBFD-1F8D3F069BEB}"/>
    <dgm:cxn modelId="{CE5EAA26-A397-4F73-B52F-1AA2BCA8DE61}" type="presOf" srcId="{93077D96-8D0F-4B15-B842-5D87B242DF74}" destId="{3DD2C4A1-4325-4C87-AF65-972E70974719}" srcOrd="0" destOrd="0" presId="urn:microsoft.com/office/officeart/2018/2/layout/IconLabelList"/>
    <dgm:cxn modelId="{A50C34AA-3782-436A-AC9E-FFD90EC31A26}" type="presOf" srcId="{43975160-1A44-441D-9874-75C980552E2E}" destId="{6E2F34C2-8B1F-4E21-B33A-DE98D54526C4}" srcOrd="0" destOrd="0" presId="urn:microsoft.com/office/officeart/2018/2/layout/IconLabelList"/>
    <dgm:cxn modelId="{B02830E4-A027-4DBA-B795-520BFD192A08}" type="presOf" srcId="{33F65003-367F-4336-9E68-01AAE52BB146}" destId="{2304A49E-C03A-42B9-A925-290992EC6D96}" srcOrd="0" destOrd="0" presId="urn:microsoft.com/office/officeart/2018/2/layout/IconLabelList"/>
    <dgm:cxn modelId="{345D50E8-CB44-4432-9265-474399B65A98}" type="presOf" srcId="{07311392-B9EF-458E-A793-C8608724A1D3}" destId="{782050EC-DEE0-4BE7-9ADB-470B91232B8E}" srcOrd="0" destOrd="0" presId="urn:microsoft.com/office/officeart/2018/2/layout/IconLabelList"/>
    <dgm:cxn modelId="{DBD1E3AC-8C8F-4E7B-A24C-3466852814BC}" type="presParOf" srcId="{782050EC-DEE0-4BE7-9ADB-470B91232B8E}" destId="{CF3BC672-4BC1-43F3-9106-8B2A481E826D}" srcOrd="0" destOrd="0" presId="urn:microsoft.com/office/officeart/2018/2/layout/IconLabelList"/>
    <dgm:cxn modelId="{B98A3DEF-D5DA-423E-BB23-F5694E15C4FB}" type="presParOf" srcId="{CF3BC672-4BC1-43F3-9106-8B2A481E826D}" destId="{E18D0BBC-2427-4A86-925F-648BB4052BC6}" srcOrd="0" destOrd="0" presId="urn:microsoft.com/office/officeart/2018/2/layout/IconLabelList"/>
    <dgm:cxn modelId="{8DA27E89-B233-4A8F-9FD5-31A39603B589}" type="presParOf" srcId="{CF3BC672-4BC1-43F3-9106-8B2A481E826D}" destId="{BEA50ACF-8C39-4010-ABAA-68F2EC4FCAAB}" srcOrd="1" destOrd="0" presId="urn:microsoft.com/office/officeart/2018/2/layout/IconLabelList"/>
    <dgm:cxn modelId="{061D1E97-9D67-4900-A33F-4DACCACECC43}" type="presParOf" srcId="{CF3BC672-4BC1-43F3-9106-8B2A481E826D}" destId="{6E2F34C2-8B1F-4E21-B33A-DE98D54526C4}" srcOrd="2" destOrd="0" presId="urn:microsoft.com/office/officeart/2018/2/layout/IconLabelList"/>
    <dgm:cxn modelId="{B8EF65A9-4373-4B6C-90A6-4433A7548259}" type="presParOf" srcId="{782050EC-DEE0-4BE7-9ADB-470B91232B8E}" destId="{92BD8B32-746B-45B9-BC35-FE2A16E5D1A1}" srcOrd="1" destOrd="0" presId="urn:microsoft.com/office/officeart/2018/2/layout/IconLabelList"/>
    <dgm:cxn modelId="{92E7EE43-E13A-4EC9-8C72-C2ADCFAD0A28}" type="presParOf" srcId="{782050EC-DEE0-4BE7-9ADB-470B91232B8E}" destId="{35AB5163-FB94-4D91-B8C0-FE7BBE974141}" srcOrd="2" destOrd="0" presId="urn:microsoft.com/office/officeart/2018/2/layout/IconLabelList"/>
    <dgm:cxn modelId="{A57FDE13-88B3-4E8E-809A-B51129B1246B}" type="presParOf" srcId="{35AB5163-FB94-4D91-B8C0-FE7BBE974141}" destId="{3F6A3F38-A528-4C12-80F0-6A74DE347F50}" srcOrd="0" destOrd="0" presId="urn:microsoft.com/office/officeart/2018/2/layout/IconLabelList"/>
    <dgm:cxn modelId="{DB4FF09B-3189-44E0-B38A-C14371C6F40F}" type="presParOf" srcId="{35AB5163-FB94-4D91-B8C0-FE7BBE974141}" destId="{93CAFE56-A158-45BB-82A2-6CF7D8A78214}" srcOrd="1" destOrd="0" presId="urn:microsoft.com/office/officeart/2018/2/layout/IconLabelList"/>
    <dgm:cxn modelId="{D151D561-6EF4-43AC-8C08-0B7625D0373D}" type="presParOf" srcId="{35AB5163-FB94-4D91-B8C0-FE7BBE974141}" destId="{3DD2C4A1-4325-4C87-AF65-972E70974719}" srcOrd="2" destOrd="0" presId="urn:microsoft.com/office/officeart/2018/2/layout/IconLabelList"/>
    <dgm:cxn modelId="{EFED64EC-7A44-47A6-9DC8-E0922D0E3748}" type="presParOf" srcId="{782050EC-DEE0-4BE7-9ADB-470B91232B8E}" destId="{56A23BE9-0E5E-44EE-A7A6-99A0BD34A0B0}" srcOrd="3" destOrd="0" presId="urn:microsoft.com/office/officeart/2018/2/layout/IconLabelList"/>
    <dgm:cxn modelId="{6C3D0C4E-DCAF-43E5-A056-5C9A8C4ECE9D}" type="presParOf" srcId="{782050EC-DEE0-4BE7-9ADB-470B91232B8E}" destId="{76F5673F-2788-4F7F-B459-9F9CB5E59102}" srcOrd="4" destOrd="0" presId="urn:microsoft.com/office/officeart/2018/2/layout/IconLabelList"/>
    <dgm:cxn modelId="{A621D926-AB26-48B7-8328-A6006FD69910}" type="presParOf" srcId="{76F5673F-2788-4F7F-B459-9F9CB5E59102}" destId="{3216E664-1F64-42F1-8D77-F2AE721AE73A}" srcOrd="0" destOrd="0" presId="urn:microsoft.com/office/officeart/2018/2/layout/IconLabelList"/>
    <dgm:cxn modelId="{14D40287-D111-44A8-B99A-F73CAA30D1D1}" type="presParOf" srcId="{76F5673F-2788-4F7F-B459-9F9CB5E59102}" destId="{0C5DE960-7275-4820-9904-D46E17F9E051}" srcOrd="1" destOrd="0" presId="urn:microsoft.com/office/officeart/2018/2/layout/IconLabelList"/>
    <dgm:cxn modelId="{9F1B0D5B-7E96-4087-8C44-FE3FB44D5A7F}" type="presParOf" srcId="{76F5673F-2788-4F7F-B459-9F9CB5E59102}" destId="{2304A49E-C03A-42B9-A925-290992EC6D9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8D0BBC-2427-4A86-925F-648BB4052BC6}">
      <dsp:nvSpPr>
        <dsp:cNvPr id="0" name=""/>
        <dsp:cNvSpPr/>
      </dsp:nvSpPr>
      <dsp:spPr>
        <a:xfrm>
          <a:off x="884534" y="431406"/>
          <a:ext cx="1436133" cy="14361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2F34C2-8B1F-4E21-B33A-DE98D54526C4}">
      <dsp:nvSpPr>
        <dsp:cNvPr id="0" name=""/>
        <dsp:cNvSpPr/>
      </dsp:nvSpPr>
      <dsp:spPr>
        <a:xfrm>
          <a:off x="6897" y="2248202"/>
          <a:ext cx="31914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Feature-based folder structure</a:t>
          </a:r>
        </a:p>
      </dsp:txBody>
      <dsp:txXfrm>
        <a:off x="6897" y="2248202"/>
        <a:ext cx="3191407" cy="720000"/>
      </dsp:txXfrm>
    </dsp:sp>
    <dsp:sp modelId="{3F6A3F38-A528-4C12-80F0-6A74DE347F50}">
      <dsp:nvSpPr>
        <dsp:cNvPr id="0" name=""/>
        <dsp:cNvSpPr/>
      </dsp:nvSpPr>
      <dsp:spPr>
        <a:xfrm>
          <a:off x="4634438" y="431406"/>
          <a:ext cx="1436133" cy="14361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2C4A1-4325-4C87-AF65-972E70974719}">
      <dsp:nvSpPr>
        <dsp:cNvPr id="0" name=""/>
        <dsp:cNvSpPr/>
      </dsp:nvSpPr>
      <dsp:spPr>
        <a:xfrm>
          <a:off x="3756801" y="2248202"/>
          <a:ext cx="31914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Separation of UI, logic, and data</a:t>
          </a:r>
        </a:p>
      </dsp:txBody>
      <dsp:txXfrm>
        <a:off x="3756801" y="2248202"/>
        <a:ext cx="3191407" cy="720000"/>
      </dsp:txXfrm>
    </dsp:sp>
    <dsp:sp modelId="{3216E664-1F64-42F1-8D77-F2AE721AE73A}">
      <dsp:nvSpPr>
        <dsp:cNvPr id="0" name=""/>
        <dsp:cNvSpPr/>
      </dsp:nvSpPr>
      <dsp:spPr>
        <a:xfrm>
          <a:off x="8384343" y="431406"/>
          <a:ext cx="1436133" cy="14361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4A49E-C03A-42B9-A925-290992EC6D96}">
      <dsp:nvSpPr>
        <dsp:cNvPr id="0" name=""/>
        <dsp:cNvSpPr/>
      </dsp:nvSpPr>
      <dsp:spPr>
        <a:xfrm>
          <a:off x="7506705" y="2248202"/>
          <a:ext cx="31914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Avoid large multi-responsibility components</a:t>
          </a:r>
        </a:p>
      </dsp:txBody>
      <dsp:txXfrm>
        <a:off x="7506705" y="2248202"/>
        <a:ext cx="3191407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EA354-C72F-BA74-51C0-A42BEA8EE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C260A-96CE-E4D9-C7E3-957173C85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2ED6D-A01B-E5D4-7E55-7AC3D28AA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0140-FF28-446D-A472-7AECF1B1B4D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2A252-2D20-FC03-C236-E100E0C91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60662-EC1E-FFB8-3E60-50DED03BA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EB8C-446B-4260-8252-A9D46CD43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219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584C7-6060-97FC-9A90-1DA288DB7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D727D-48A7-8CBE-EDA5-6B1B1861A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1EED2-DC5A-18BD-6A76-E55D6C47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0140-FF28-446D-A472-7AECF1B1B4D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DBFF7-1194-37C2-CA16-F6305AD5C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746F6-8E2D-21C4-E7EF-C5B4EC67E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EB8C-446B-4260-8252-A9D46CD43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168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7CCC3-C705-4C48-4BB6-5AD421C9B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00181-52A8-295B-E356-64FBB2AE8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2A67D-4E15-1721-4258-897F61212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0140-FF28-446D-A472-7AECF1B1B4D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17EEE-167C-BE58-3CC7-DC0B78576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24F02-4E1E-E982-E871-CD3C04A27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EB8C-446B-4260-8252-A9D46CD43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548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3DEC0-96D3-C814-66EE-2F51116BE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D8034-7058-5A6D-4B52-AE5C85E5E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234A8-E1B1-B4FF-D47D-B5FB30C53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2481C-8C2A-D3A4-3853-3E022960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0140-FF28-446D-A472-7AECF1B1B4D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F428B-7265-EE58-FD87-4957EAB42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F39E45-FC84-EA75-94BF-211674D3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EB8C-446B-4260-8252-A9D46CD43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684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777B-2EE0-48AB-286F-1FB0475EF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FFD8C-D3B1-8476-8174-717DD9BFC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04741-6CCB-A933-C8B4-F7A42EA66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E37D3-90D8-5A52-94EC-EB76BBC78C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05F323-70B5-779B-15E0-747FD2780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BEC16C-D8A0-4F63-C7B5-061232C68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0140-FF28-446D-A472-7AECF1B1B4D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34A40A-D038-A293-24E7-272D02647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F887A4-5665-E24E-FF81-642BAB145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EB8C-446B-4260-8252-A9D46CD43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146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E15D4-9E3E-DDD6-85E4-41006BA6C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14555-499A-DFB0-918A-F81D2A5C8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0140-FF28-446D-A472-7AECF1B1B4D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7D6A9-23E3-D234-B220-2CBEF4041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55664-6FA3-DE52-95DE-0BB49A00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EB8C-446B-4260-8252-A9D46CD43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072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CF44B1-17A1-6798-9CF6-4DE6081E8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0140-FF28-446D-A472-7AECF1B1B4D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D8C9E8-7801-68E3-2B23-13CC5F397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E62956-31F0-3A8E-60B6-A15BBBCB6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EB8C-446B-4260-8252-A9D46CD43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729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0B06-B624-C032-5CC8-DDFC98CC8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18ED7-F378-535A-B31A-DBAC79DA3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14FA9F-E7BA-8231-A1E9-4820E963E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5434A-C792-F2D6-BDE1-7BB1E7C1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0140-FF28-446D-A472-7AECF1B1B4D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DE983-01A8-BF17-08D4-4F693599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0C6FD-0204-B0D0-11C6-E2DC153EC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EB8C-446B-4260-8252-A9D46CD43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216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B6E9-61CA-3189-3DD0-B714E51B9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51FCA4-4FC6-6BAD-1008-0914301B9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D6FC3-3DA8-0E21-A482-E14984FF87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BD348-090A-1FF3-BA7A-A260E3B46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0140-FF28-446D-A472-7AECF1B1B4D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1F220-AE63-5C29-D3D4-A1277F07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A0DF1-B0AD-E6C2-D877-08FFF4082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EB8C-446B-4260-8252-A9D46CD43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218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F2C7-5008-54C7-1F00-2CB6F20C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CE615-4CE6-FC56-575D-352338A9A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DF5EA-3B01-D46B-E703-520AA15B1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0140-FF28-446D-A472-7AECF1B1B4D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FA75D-513C-4285-CA05-491A9DEC6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985B1A-6549-1069-C1D7-34EA5F7D3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EB8C-446B-4260-8252-A9D46CD43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645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025268-EDAE-B29E-1ED9-762E6CA95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B7A56-418B-F8EB-236B-AD6D52B00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6D8FF-12F2-9279-45F4-07D96470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80140-FF28-446D-A472-7AECF1B1B4D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F8226-815E-0AE3-536F-FA42B1839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FA51C-4A4C-2D30-AB25-138B1F407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9EB8C-446B-4260-8252-A9D46CD43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145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B778D0-DA39-98F8-7B73-E0947E396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D37E3-BFF6-7B0A-8576-58F092CFC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97AD0-72CE-6997-68BE-FAB8D0A06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280140-FF28-446D-A472-7AECF1B1B4D4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06EA3-558C-5DA7-0D1B-B5C50FB9F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F6819-889E-77AA-1CC3-7F6CAA14DB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19EB8C-446B-4260-8252-A9D46CD43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66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C68AE10-6A9A-217B-7773-B1822DC7C58A}"/>
              </a:ext>
            </a:extLst>
          </p:cNvPr>
          <p:cNvSpPr/>
          <p:nvPr/>
        </p:nvSpPr>
        <p:spPr>
          <a:xfrm>
            <a:off x="785478" y="2329490"/>
            <a:ext cx="110075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Advanced React Patterns &amp; Performance (2026)</a:t>
            </a:r>
            <a:endParaRPr lang="en-US" sz="36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807701D5-9B16-3263-AE2E-A53D6CC6F5E3}"/>
              </a:ext>
            </a:extLst>
          </p:cNvPr>
          <p:cNvSpPr/>
          <p:nvPr/>
        </p:nvSpPr>
        <p:spPr>
          <a:xfrm>
            <a:off x="748145" y="3345207"/>
            <a:ext cx="10847407" cy="45719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0958879-B9E4-5043-3643-026BE5D2941F}"/>
              </a:ext>
            </a:extLst>
          </p:cNvPr>
          <p:cNvSpPr/>
          <p:nvPr/>
        </p:nvSpPr>
        <p:spPr>
          <a:xfrm>
            <a:off x="785478" y="3676066"/>
            <a:ext cx="9775472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Building Scalable and Maintainable Applications</a:t>
            </a:r>
            <a:endParaRPr lang="en-US" sz="1750" dirty="0">
              <a:latin typeface="Graphik" panose="020B0503030202060203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Presenter: Kanchan Sontakke</a:t>
            </a:r>
            <a:endParaRPr lang="en-US" sz="1750" dirty="0">
              <a:latin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520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E5CF958F-8867-9D75-2BE8-11CB73AD2B90}"/>
              </a:ext>
            </a:extLst>
          </p:cNvPr>
          <p:cNvSpPr/>
          <p:nvPr/>
        </p:nvSpPr>
        <p:spPr>
          <a:xfrm>
            <a:off x="798082" y="9969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dirty="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Agenda</a:t>
            </a:r>
            <a:endParaRPr lang="en-US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BD25D02-747A-A215-B806-E6963DB13CE4}"/>
              </a:ext>
            </a:extLst>
          </p:cNvPr>
          <p:cNvSpPr/>
          <p:nvPr/>
        </p:nvSpPr>
        <p:spPr>
          <a:xfrm>
            <a:off x="737981" y="2151656"/>
            <a:ext cx="13042821" cy="290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Why scalability &amp; performance matter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Modern React mental model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Advanced component patterns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State management strategies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Performance optimization techniques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Architecture &amp; maintainability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Anti-patterns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Key takeaways</a:t>
            </a:r>
            <a:endParaRPr lang="en-US" sz="1600" dirty="0">
              <a:latin typeface="Graphik" panose="020B0503030202060203" pitchFamily="34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85C798A1-2EFD-2C17-2F22-FAE160B10CF9}"/>
              </a:ext>
            </a:extLst>
          </p:cNvPr>
          <p:cNvSpPr/>
          <p:nvPr/>
        </p:nvSpPr>
        <p:spPr>
          <a:xfrm>
            <a:off x="737981" y="1816914"/>
            <a:ext cx="10847407" cy="45719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67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16F29-2438-247A-1CC1-0C18F6B8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Why This Topic Matters</a:t>
            </a:r>
            <a:endParaRPr lang="en-IN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67EBF-C92F-2956-4DE8-4FBD892F3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Growing complexity in large React apps</a:t>
            </a:r>
            <a:endParaRPr lang="en-US" sz="160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Performance bottlenecks in production systems</a:t>
            </a:r>
            <a:endParaRPr lang="en-US" sz="160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Maintainability challenges over time</a:t>
            </a:r>
            <a:endParaRPr lang="en-US" sz="160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Need for scalable architectural patterns</a:t>
            </a:r>
            <a:endParaRPr lang="en-US" sz="1600">
              <a:latin typeface="Graphik" panose="020B0503030202060203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6062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782DE-18CC-4D86-3CD7-628234E9E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React Mental Model (2026)</a:t>
            </a:r>
            <a:endParaRPr lang="en-IN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3A146-4868-0B4A-FA6B-A7FF57707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Declarative UI approach</a:t>
            </a:r>
            <a:endParaRPr lang="en-US" sz="160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Composition over inheritance</a:t>
            </a:r>
            <a:endParaRPr lang="en-US" sz="160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Components → UI responsibility</a:t>
            </a:r>
            <a:endParaRPr lang="en-US" sz="160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Hooks → Logic responsibility</a:t>
            </a:r>
            <a:endParaRPr lang="en-US" sz="160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Predictable data flow</a:t>
            </a:r>
            <a:endParaRPr lang="en-IN" sz="1600" dirty="0">
              <a:latin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804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182BC-8C99-133C-78D2-6A92F76D7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Advanced Component Patterns Overview</a:t>
            </a:r>
            <a:endParaRPr lang="en-IN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CA68C-B308-71CF-24BB-77C41029E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557" y="3866697"/>
            <a:ext cx="5040086" cy="2310946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Compound Components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Controlled vs Uncontrolled Components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Render Patterns (Selective usage)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Goal: Flexible &amp; readable component APIs</a:t>
            </a:r>
            <a:endParaRPr lang="en-US" sz="1600" dirty="0">
              <a:latin typeface="Graphik" panose="020B0503030202060203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5A2D84-FE47-1D6B-7C8D-05389C32B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971"/>
          <a:stretch>
            <a:fillRect/>
          </a:stretch>
        </p:blipFill>
        <p:spPr>
          <a:xfrm>
            <a:off x="146589" y="1217160"/>
            <a:ext cx="6248770" cy="27506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6749B1-6550-2085-5793-83F45BB204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61"/>
          <a:stretch>
            <a:fillRect/>
          </a:stretch>
        </p:blipFill>
        <p:spPr>
          <a:xfrm>
            <a:off x="6541948" y="2455754"/>
            <a:ext cx="5650052" cy="271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215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6AD8-C189-4745-B150-E2199AF3B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353" y="394682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Compound Components</a:t>
            </a:r>
            <a:endParaRPr lang="en-IN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1A551-F224-100D-B12D-21EB066D0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353" y="1817312"/>
            <a:ext cx="10515600" cy="435133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Shared internal state</a:t>
            </a:r>
            <a:endParaRPr lang="en-US" sz="160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Flexible consumer APIs</a:t>
            </a:r>
            <a:endParaRPr lang="en-US" sz="160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Improves readability &amp; scalability</a:t>
            </a:r>
            <a:endParaRPr lang="en-US" sz="160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Use Cases: Tabs, Accordions, Modals</a:t>
            </a:r>
            <a:endParaRPr lang="en-IN" sz="1600" dirty="0">
              <a:latin typeface="Graphik" panose="020B050303020206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6F4B50-CA5C-EE45-0A73-42FFAAD18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1" r="5885" b="25691"/>
          <a:stretch>
            <a:fillRect/>
          </a:stretch>
        </p:blipFill>
        <p:spPr>
          <a:xfrm>
            <a:off x="5133318" y="1246415"/>
            <a:ext cx="6136794" cy="347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593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A2A0F-2DAA-0765-1995-454B1576D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911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Controlled vs Uncontrolled Components</a:t>
            </a:r>
            <a:endParaRPr lang="en-IN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A6E89-3507-8926-A1F0-8CC8943BC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86" y="1902122"/>
            <a:ext cx="4865914" cy="435133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 Medium" panose="020B0603030202060203" pitchFamily="34" charset="0"/>
                <a:ea typeface="Roboto" pitchFamily="34" charset="-122"/>
                <a:cs typeface="Roboto" pitchFamily="34" charset="-120"/>
              </a:rPr>
              <a:t>Controlled</a:t>
            </a: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: External state management, Predictable behavior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 Medium" panose="020B0603030202060203" pitchFamily="34" charset="0"/>
                <a:ea typeface="Roboto" pitchFamily="34" charset="-122"/>
                <a:cs typeface="Roboto" pitchFamily="34" charset="-120"/>
              </a:rPr>
              <a:t>Uncontrolled</a:t>
            </a: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: Internal component state, Simpler usage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Choosing depends on Reusability, Complexity, Consumer flexibility</a:t>
            </a:r>
            <a:endParaRPr lang="en-US" sz="1600" dirty="0">
              <a:latin typeface="Graphik" panose="020B0503030202060203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9F9BCC-B42B-52CE-F86C-AEAE29EBE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33" t="15618" r="7987" b="17103"/>
          <a:stretch>
            <a:fillRect/>
          </a:stretch>
        </p:blipFill>
        <p:spPr>
          <a:xfrm>
            <a:off x="5666014" y="1707185"/>
            <a:ext cx="6052457" cy="334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118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1CD5-54BC-7FF3-8756-B6DBE1D3F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Custom Hooks as Scaling Strategy</a:t>
            </a:r>
            <a:endParaRPr lang="en-IN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32FE9-9BAB-7781-A937-C25DD48D3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0" y="2048782"/>
            <a:ext cx="3282043" cy="24306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Encapsulate business logic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Improve reuse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Simplify components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Improve testability</a:t>
            </a:r>
            <a:endParaRPr lang="en-US" sz="1600" dirty="0">
              <a:latin typeface="Graphik" panose="020B0503030202060203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29DD8D-37B2-31D4-8972-9047E1055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208" y="1690688"/>
            <a:ext cx="6347115" cy="372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56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6A489-5BFC-99D4-90AA-73F0DD5A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State Management Strategy</a:t>
            </a:r>
            <a:endParaRPr lang="en-IN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3BC39-7D22-765C-083A-A208925D3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0" y="2463573"/>
            <a:ext cx="5001986" cy="2501446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Local state first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Lift state only when required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Global state only when shared broadly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Principle: Not all state deserves to be global</a:t>
            </a:r>
            <a:endParaRPr lang="en-US" sz="1600" dirty="0">
              <a:latin typeface="Graphik" panose="020B0503030202060203" pitchFamily="34" charset="0"/>
            </a:endParaRPr>
          </a:p>
          <a:p>
            <a:endParaRPr lang="en-IN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336F9E96-8E81-9885-1A27-FF4CE8C22CA8}"/>
              </a:ext>
            </a:extLst>
          </p:cNvPr>
          <p:cNvSpPr/>
          <p:nvPr/>
        </p:nvSpPr>
        <p:spPr>
          <a:xfrm>
            <a:off x="771231" y="1517656"/>
            <a:ext cx="10847407" cy="45719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AB785-6B47-1579-FB98-50AD93154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2939" y="1606917"/>
            <a:ext cx="7237639" cy="482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83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BCEFC-8DD4-22B0-33A6-84EE40F64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React Performance Fundamentals</a:t>
            </a:r>
            <a:endParaRPr lang="en-IN" sz="3200" dirty="0">
              <a:solidFill>
                <a:srgbClr val="7030A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4D8BE-429F-1128-CAC2-4558761A1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SzPct val="100000"/>
            </a:pPr>
            <a:r>
              <a:rPr lang="en-US" sz="1600" dirty="0"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What triggers re-renders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buSzPct val="100000"/>
            </a:pPr>
            <a:r>
              <a:rPr lang="en-US" sz="1600" dirty="0"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Parent → child rendering relationship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buSzPct val="100000"/>
            </a:pPr>
            <a:r>
              <a:rPr lang="en-US" sz="1600" dirty="0"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Importance of reference stability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buSzPct val="100000"/>
            </a:pPr>
            <a:r>
              <a:rPr lang="en-US" sz="1600" dirty="0"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Measuring before optimizing</a:t>
            </a:r>
            <a:endParaRPr lang="en-US" sz="1600" dirty="0">
              <a:latin typeface="Graphik" panose="020B0503030202060203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5459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6F856BC-2CA4-1DE0-C331-D42BE09C9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3200" dirty="0" err="1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Memoization</a:t>
            </a:r>
            <a:r>
              <a:rPr lang="en-US" sz="3200" dirty="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 Techniques</a:t>
            </a:r>
            <a:endParaRPr lang="en-IN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BD9B2B-85AF-B76C-BF6B-0A6CAEE33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914"/>
          <a:stretch>
            <a:fillRect/>
          </a:stretch>
        </p:blipFill>
        <p:spPr>
          <a:xfrm>
            <a:off x="690589" y="1667038"/>
            <a:ext cx="6009855" cy="3694176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7D17ECC-E826-20D5-26B6-38BFDA248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4189" y="1667038"/>
            <a:ext cx="3872243" cy="3694176"/>
          </a:xfrm>
        </p:spPr>
        <p:txBody>
          <a:bodyPr anchor="ctr">
            <a:normAutofit/>
          </a:bodyPr>
          <a:lstStyle/>
          <a:p>
            <a:pPr marL="342900" indent="-342900">
              <a:buSzPct val="100000"/>
            </a:pPr>
            <a:r>
              <a:rPr lang="en-US" sz="1800" dirty="0" err="1"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useMemo</a:t>
            </a:r>
            <a:endParaRPr lang="en-US" sz="1800" dirty="0">
              <a:latin typeface="Graphik" panose="020B0503030202060203" pitchFamily="34" charset="0"/>
            </a:endParaRPr>
          </a:p>
          <a:p>
            <a:pPr marL="342900" indent="-342900">
              <a:buSzPct val="100000"/>
            </a:pPr>
            <a:r>
              <a:rPr lang="en-US" sz="1800" dirty="0" err="1"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useCallback</a:t>
            </a:r>
            <a:endParaRPr lang="en-US" sz="1800" dirty="0">
              <a:latin typeface="Graphik" panose="020B0503030202060203" pitchFamily="34" charset="0"/>
            </a:endParaRPr>
          </a:p>
          <a:p>
            <a:pPr marL="342900" indent="-342900">
              <a:buSzPct val="100000"/>
            </a:pPr>
            <a:r>
              <a:rPr lang="en-US" sz="1800" dirty="0" err="1"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React.memo</a:t>
            </a:r>
            <a:endParaRPr lang="en-US" sz="1800" dirty="0">
              <a:latin typeface="Graphik" panose="020B0503030202060203" pitchFamily="34" charset="0"/>
            </a:endParaRPr>
          </a:p>
          <a:p>
            <a:pPr marL="342900" indent="-342900">
              <a:buSzPct val="100000"/>
            </a:pPr>
            <a:r>
              <a:rPr lang="en-US" sz="1800" dirty="0"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Use for expensive calculations and stable props</a:t>
            </a:r>
            <a:endParaRPr lang="en-US" sz="1800" dirty="0">
              <a:latin typeface="Graphik" panose="020B0503030202060203" pitchFamily="34" charset="0"/>
            </a:endParaRPr>
          </a:p>
          <a:p>
            <a:pPr marL="342900" indent="-342900">
              <a:buSzPct val="100000"/>
            </a:pPr>
            <a:r>
              <a:rPr lang="en-US" sz="1800" dirty="0"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Avoid premature optimization</a:t>
            </a:r>
            <a:endParaRPr lang="en-US" sz="1800" dirty="0">
              <a:latin typeface="Graphik" panose="020B0503030202060203" pitchFamily="34" charset="0"/>
            </a:endParaRP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25623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E91B-5158-47CA-5254-D644996C4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List &amp; Rendering Optimization</a:t>
            </a:r>
            <a:endParaRPr lang="en-IN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B03ED-D51A-5928-D2BB-737149802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557" y="2222953"/>
            <a:ext cx="4218214" cy="2555876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Proper key usage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Avoid inline functions in large lists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Component render boundaries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Virtualization for large datasets</a:t>
            </a:r>
            <a:endParaRPr lang="en-US" sz="1600" dirty="0">
              <a:latin typeface="Graphik" panose="020B0503030202060203" pitchFamily="34" charset="0"/>
            </a:endParaRP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D3C2B5-51E4-85E1-7ACC-147484FF9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16"/>
          <a:stretch>
            <a:fillRect/>
          </a:stretch>
        </p:blipFill>
        <p:spPr>
          <a:xfrm>
            <a:off x="4974771" y="1609497"/>
            <a:ext cx="6682468" cy="36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27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8924-6396-4ABE-98AE-0095B9EE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Error Handling &amp; Resilience</a:t>
            </a:r>
            <a:endParaRPr lang="en-IN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FC425-2661-1EF7-7679-C7C6EB4BA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503" y="2010682"/>
            <a:ext cx="3433081" cy="435133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Error boundaries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Fallback UI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Prevent full application crashes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Improve user trust &amp; stability</a:t>
            </a:r>
            <a:endParaRPr lang="en-US" sz="1600" dirty="0">
              <a:latin typeface="Graphik" panose="020B0503030202060203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FB6E50-9C24-620C-48F4-369A76BC9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98" b="17557"/>
          <a:stretch>
            <a:fillRect/>
          </a:stretch>
        </p:blipFill>
        <p:spPr>
          <a:xfrm>
            <a:off x="413658" y="1736272"/>
            <a:ext cx="771525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762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105C9-BC23-DB49-E8A2-0B92AD425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Architecture for Maintainability</a:t>
            </a:r>
            <a:endParaRPr lang="en-IN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BC722AC6-4D2B-B61B-F913-ABF5A58A70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73305803"/>
              </p:ext>
            </p:extLst>
          </p:nvPr>
        </p:nvGraphicFramePr>
        <p:xfrm>
          <a:off x="719545" y="2032361"/>
          <a:ext cx="10705011" cy="3399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0802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8CA0F-C9ED-6B0F-DF0A-47715C09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Common Anti-Patterns</a:t>
            </a:r>
            <a:endParaRPr lang="en-IN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6482F-34FC-9AC9-F38D-F99D83B9E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Excessive global state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Business logic inside JSX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Premature </a:t>
            </a:r>
            <a:r>
              <a:rPr lang="en-US" sz="1600" dirty="0" err="1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memoization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Overly complex abstractions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Deep prop drilling</a:t>
            </a:r>
            <a:endParaRPr lang="en-US" sz="1600" dirty="0">
              <a:latin typeface="Graphik" panose="020B0503030202060203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469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4072-E08A-05F9-5F76-1720F2521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Real-World Takeaways</a:t>
            </a:r>
            <a:endParaRPr lang="en-IN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D23D6-A66F-6B6C-F983-CA7524754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Patterns are tools, not rules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Maintainability &gt; cleverness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Optimize based on evidence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5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Small architectural decisions scale</a:t>
            </a:r>
            <a:endParaRPr lang="en-IN" sz="1600" dirty="0">
              <a:latin typeface="Graphik" panose="020B0503030202060203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47D750B-13F8-CB3B-0588-21663BA1459D}"/>
              </a:ext>
            </a:extLst>
          </p:cNvPr>
          <p:cNvSpPr/>
          <p:nvPr/>
        </p:nvSpPr>
        <p:spPr>
          <a:xfrm>
            <a:off x="754606" y="1476092"/>
            <a:ext cx="10847407" cy="45719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6036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B8D97-A3E4-18BF-EA70-F27BE503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ts val="5550"/>
              </a:lnSpc>
            </a:pPr>
            <a:r>
              <a:rPr lang="en-US" sz="3200" dirty="0">
                <a:solidFill>
                  <a:srgbClr val="7030A0"/>
                </a:solidFill>
                <a:latin typeface="Graphik Semibold" panose="020B0703030202060203" pitchFamily="34" charset="0"/>
                <a:ea typeface="Raleway" pitchFamily="34" charset="-122"/>
                <a:cs typeface="Raleway" pitchFamily="34" charset="-120"/>
              </a:rPr>
              <a:t>Closing &amp; Q&amp;A</a:t>
            </a:r>
            <a:endParaRPr lang="en-US" sz="3200" dirty="0">
              <a:solidFill>
                <a:srgbClr val="7030A0"/>
              </a:solidFill>
              <a:latin typeface="Graphik Semibold" panose="020B070303020206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DF2FB-CFDD-9012-DF1D-A7C4DAC43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764" y="2141537"/>
            <a:ext cx="10515600" cy="4351338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Scalable React is built through consistent decisions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0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Knowledge sharing improves engineering quality</a:t>
            </a:r>
            <a:endParaRPr lang="en-US" sz="1600" dirty="0">
              <a:latin typeface="Graphik" panose="020B0503030202060203" pitchFamily="34" charset="0"/>
            </a:endParaRPr>
          </a:p>
          <a:p>
            <a:pPr marL="342900" indent="-342900">
              <a:lnSpc>
                <a:spcPct val="100000"/>
              </a:lnSpc>
              <a:buSzPct val="100000"/>
            </a:pPr>
            <a:r>
              <a:rPr lang="en-US" sz="1600" dirty="0">
                <a:solidFill>
                  <a:srgbClr val="3C3939"/>
                </a:solidFill>
                <a:latin typeface="Graphik" panose="020B0503030202060203" pitchFamily="34" charset="0"/>
                <a:ea typeface="Roboto" pitchFamily="34" charset="-122"/>
                <a:cs typeface="Roboto" pitchFamily="34" charset="-120"/>
              </a:rPr>
              <a:t>Questions &amp; Discussion</a:t>
            </a:r>
            <a:endParaRPr lang="en-US" sz="1600" dirty="0">
              <a:latin typeface="Graphik" panose="020B0503030202060203" pitchFamily="34" charset="0"/>
            </a:endParaRPr>
          </a:p>
          <a:p>
            <a:endParaRPr lang="en-IN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705D2396-5F0B-F6E7-AB56-22F98AF294F5}"/>
              </a:ext>
            </a:extLst>
          </p:cNvPr>
          <p:cNvSpPr/>
          <p:nvPr/>
        </p:nvSpPr>
        <p:spPr>
          <a:xfrm>
            <a:off x="767893" y="1589343"/>
            <a:ext cx="10847407" cy="45719"/>
          </a:xfrm>
          <a:prstGeom prst="rect">
            <a:avLst/>
          </a:prstGeom>
          <a:solidFill>
            <a:schemeClr val="tx1">
              <a:lumMod val="85000"/>
              <a:lumOff val="15000"/>
              <a:alpha val="50000"/>
            </a:schemeClr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022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347</Words>
  <Application>Microsoft Office PowerPoint</Application>
  <PresentationFormat>Widescreen</PresentationFormat>
  <Paragraphs>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Graphik</vt:lpstr>
      <vt:lpstr>Graphik Medium</vt:lpstr>
      <vt:lpstr>Graphik Semibold</vt:lpstr>
      <vt:lpstr>Office Theme</vt:lpstr>
      <vt:lpstr>PowerPoint Presentation</vt:lpstr>
      <vt:lpstr>PowerPoint Presentation</vt:lpstr>
      <vt:lpstr>Why This Topic Matters</vt:lpstr>
      <vt:lpstr>React Mental Model (2026)</vt:lpstr>
      <vt:lpstr>Advanced Component Patterns Overview</vt:lpstr>
      <vt:lpstr>Compound Components</vt:lpstr>
      <vt:lpstr>Controlled vs Uncontrolled Components</vt:lpstr>
      <vt:lpstr>Custom Hooks as Scaling Strategy</vt:lpstr>
      <vt:lpstr>State Management Strategy</vt:lpstr>
      <vt:lpstr>React Performance Fundamentals</vt:lpstr>
      <vt:lpstr>Memoization Techniques</vt:lpstr>
      <vt:lpstr>List &amp; Rendering Optimization</vt:lpstr>
      <vt:lpstr>Error Handling &amp; Resilience</vt:lpstr>
      <vt:lpstr>Architecture for Maintainability</vt:lpstr>
      <vt:lpstr>Common Anti-Patterns</vt:lpstr>
      <vt:lpstr>Real-World Takeaways</vt:lpstr>
      <vt:lpstr>Closing &amp; 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Sontakke, Kanchan G.</dc:creator>
  <cp:lastModifiedBy>Sontakke, Kanchan G.</cp:lastModifiedBy>
  <cp:revision>1</cp:revision>
  <dcterms:created xsi:type="dcterms:W3CDTF">2026-02-03T13:24:04Z</dcterms:created>
  <dcterms:modified xsi:type="dcterms:W3CDTF">2026-02-03T17:15:41Z</dcterms:modified>
</cp:coreProperties>
</file>